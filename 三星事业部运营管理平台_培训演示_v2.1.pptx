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1A3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0E1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0" y="4572000"/>
            <a:ext cx="2743200" cy="2743200"/>
          </a:xfrm>
          <a:prstGeom prst="ellipse">
            <a:avLst/>
          </a:prstGeom>
          <a:solidFill>
            <a:srgbClr val="1A3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三星事业部运营管理平台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29C38"/>
                </a:solidFill>
                <a:latin typeface="Microsoft YaHei"/>
              </a:defRPr>
            </a:pPr>
            <a:r>
              <a:t>—— 全链路门店运营数字化解决方案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383280"/>
            <a:ext cx="2743200" cy="508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Microsoft YaHei"/>
              </a:defRPr>
            </a:pPr>
            <a:r>
              <a:t>培训演示 · 使用指南 v2.1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AACC"/>
                </a:solidFill>
                <a:latin typeface="Microsoft YaHei"/>
              </a:defRPr>
            </a:pPr>
            <a:r>
              <a:t>2026年6月  |  简禹豪（管理员）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846320"/>
            <a:ext cx="914400" cy="27432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v2.1 试运营版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📋 培训目录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本次培训将覆盖以下内容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 / 21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898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系统概述与架构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6642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系统定位、技术规格、角色权限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1371600"/>
            <a:ext cx="502920" cy="502920"/>
          </a:xfrm>
          <a:prstGeom prst="ellipse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38988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登录与账号体系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66420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登录流程、测试账号、权限说明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267712"/>
            <a:ext cx="502920" cy="502920"/>
          </a:xfrm>
          <a:prstGeom prst="ellipse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860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📊 数据总览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560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Dashboard核心KPI、图表分析</a:t>
            </a:r>
          </a:p>
        </p:txBody>
      </p:sp>
      <p:sp>
        <p:nvSpPr>
          <p:cNvPr id="16" name="Oval 15"/>
          <p:cNvSpPr/>
          <p:nvPr/>
        </p:nvSpPr>
        <p:spPr>
          <a:xfrm>
            <a:off x="6309360" y="2267712"/>
            <a:ext cx="502920" cy="502920"/>
          </a:xfrm>
          <a:prstGeom prst="ellipse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2860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💰 销售进度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560320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月度报表、对比分析、门店排名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3163824"/>
            <a:ext cx="502920" cy="5029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1821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📦 库存监控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4564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库存展示、预警机制、补货建议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163824"/>
            <a:ext cx="502920" cy="5029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1821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💲 价格看板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456432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指导价与成交价对比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059936"/>
            <a:ext cx="502920" cy="5029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782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💵 店员提成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5254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提成计算、排行、活动政策</a:t>
            </a:r>
          </a:p>
        </p:txBody>
      </p:sp>
      <p:sp>
        <p:nvSpPr>
          <p:cNvPr id="28" name="Oval 27"/>
          <p:cNvSpPr/>
          <p:nvPr/>
        </p:nvSpPr>
        <p:spPr>
          <a:xfrm>
            <a:off x="6309360" y="4059936"/>
            <a:ext cx="502920" cy="50292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407822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🤖 AI 智能助手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4352544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DeepSeek驱动的业务分析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4956048"/>
            <a:ext cx="502920" cy="502920"/>
          </a:xfrm>
          <a:prstGeom prst="ellipse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9743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协作工具集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2486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社区/知识库/考勤/审批/任务</a:t>
            </a:r>
          </a:p>
        </p:txBody>
      </p:sp>
      <p:sp>
        <p:nvSpPr>
          <p:cNvPr id="34" name="Oval 33"/>
          <p:cNvSpPr/>
          <p:nvPr/>
        </p:nvSpPr>
        <p:spPr>
          <a:xfrm>
            <a:off x="6309360" y="4956048"/>
            <a:ext cx="502920" cy="502920"/>
          </a:xfrm>
          <a:prstGeom prst="ellipse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97433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⚙️ 后台管理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248656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用户管理、数据同步、系统配置</a:t>
            </a:r>
          </a:p>
        </p:txBody>
      </p:sp>
      <p:sp>
        <p:nvSpPr>
          <p:cNvPr id="37" name="Oval 36"/>
          <p:cNvSpPr/>
          <p:nvPr/>
        </p:nvSpPr>
        <p:spPr>
          <a:xfrm>
            <a:off x="731520" y="5852160"/>
            <a:ext cx="502920" cy="5029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87044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常见问题 FAQ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6144768"/>
            <a:ext cx="4114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登录/数据/移动端/故障排查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01 系统概述与架构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全链路门店运营数字化管理平台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1148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📐 系统定位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面向三星授权体验店的运营管理平台</a:t>
            </a:r>
            <a:br/>
            <a:r>
              <a:t>• 覆盖 10+ 业务模块：销售/库存/价格/提成/会员/知识库/协作/AI</a:t>
            </a:r>
            <a:br/>
            <a:r>
              <a:t>• 支持 10 家门店同时运营</a:t>
            </a:r>
            <a:br/>
            <a:r>
              <a:t>• B/S 架构，浏览器即用，无需安装客户端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029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5029200" cy="41148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⚙️ 技术规格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20"/>
            <a:ext cx="47548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访问地址：http://localhost:9527</a:t>
            </a:r>
            <a:br/>
            <a:r>
              <a:t>• 推荐浏览器：Chrome / Edge (推荐 Chrome)</a:t>
            </a:r>
            <a:br/>
            <a:r>
              <a:t>• 数据存储：SQLite 本地数据库</a:t>
            </a:r>
            <a:br/>
            <a:r>
              <a:t>• 会话时长：登录后 72 小时有效</a:t>
            </a:r>
            <a:br/>
            <a:r>
              <a:t>• 支持移动端 + PWA 安装到桌面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👥 角色与权限矩阵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4069080"/>
          <a:ext cx="105156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权限范围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管理员 (admin)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全部功能 + 用户管理 + 系统配置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店长 (manager)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本店数据 + 通用提成/知识库/协作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店员 (staff)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有限访问（打卡/知识库查看等）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2011680" y="5394960"/>
            <a:ext cx="1828800" cy="777240"/>
          </a:xfrm>
          <a:prstGeom prst="rect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浏览器</a:t>
            </a:r>
            <a:br/>
            <a:r>
              <a:t>前端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5715000"/>
            <a:ext cx="457200" cy="508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5394960"/>
            <a:ext cx="1828800" cy="77724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FastAPI</a:t>
            </a:r>
            <a:br/>
            <a:r>
              <a:t>后端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5715000"/>
            <a:ext cx="457200" cy="508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5394960"/>
            <a:ext cx="1828800" cy="7772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SQLite</a:t>
            </a:r>
            <a:br/>
            <a:r>
              <a:t>数据库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0" y="5715000"/>
            <a:ext cx="457200" cy="508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69680" y="5394960"/>
            <a:ext cx="1828800" cy="77724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DeepSeek</a:t>
            </a:r>
            <a:br/>
            <a:r>
              <a:t>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02 登录与账号体系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登录流程 | 测试账号 | 安全提醒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 / 21</a:t>
            </a:r>
          </a:p>
        </p:txBody>
      </p:sp>
      <p:sp>
        <p:nvSpPr>
          <p:cNvPr id="7" name="Oval 6"/>
          <p:cNvSpPr/>
          <p:nvPr/>
        </p:nvSpPr>
        <p:spPr>
          <a:xfrm>
            <a:off x="1920240" y="1371600"/>
            <a:ext cx="914400" cy="914400"/>
          </a:xfrm>
          <a:prstGeom prst="ellipse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打开浏览器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访问 http://localhost:9527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1828800"/>
            <a:ext cx="100584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577840" y="1371600"/>
            <a:ext cx="914400" cy="914400"/>
          </a:xfrm>
          <a:prstGeom prst="ellipse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2️⃣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输入账号密码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输入分配的用户名和密码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1828800"/>
            <a:ext cx="100584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235440" y="1371600"/>
            <a:ext cx="914400" cy="914400"/>
          </a:xfrm>
          <a:prstGeom prst="ellipse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3️⃣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点击登录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88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验证成功后进入数据总览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🔑 测试账号（管理员）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3611880"/>
          <a:ext cx="502920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账号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密码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admin123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管理员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超级管理员，可查看所有门店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assistant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admin123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管理员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运营助理，同管理员权限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12648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🔑 测试账号（店长）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126480" y="3611880"/>
          <a:ext cx="50292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账号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密码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门店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store1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store123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万象城旗舰店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华润万象汇体验店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store3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store123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兴义梦乐城体验店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遵义吾悦体验店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store5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store123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曲靖万达体验店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…store10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store123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共10家门店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731520" y="5623560"/>
            <a:ext cx="1051560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875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Microsoft YaHei"/>
              </a:defRPr>
            </a:pPr>
            <a:r>
              <a:t>⚠️ 安全提醒：试运营结束后请立即修改默认密码！修改路径：右上角头像 → 修改密码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126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💡 移动端：手机浏览器访问 http://&lt;电脑IP&gt;:9527 → 浏览器菜单 → "添加到主屏幕" → 安装为 PWA 应用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 📊 数据总览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登录后默认首页 | 核心KPI一目了然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1463040"/>
            <a:ext cx="8686800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55448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统计卡片区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96596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FF5"/>
                </a:solidFill>
                <a:latin typeface="Microsoft YaHei"/>
              </a:defRPr>
            </a:pPr>
            <a:r>
              <a:t>门店数 | 月销售额 | 月完成率 | 库存总量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3108960"/>
            <a:ext cx="8686800" cy="100584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20040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图表分析区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1188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FF5"/>
                </a:solidFill>
                <a:latin typeface="Microsoft YaHei"/>
              </a:defRPr>
            </a:pPr>
            <a:r>
              <a:t>销售趋势折线图 | 机型占比饼图 | 门店排行柱状图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5486400"/>
            <a:ext cx="8686800" cy="1005840"/>
          </a:xfrm>
          <a:prstGeom prst="rect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55778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快捷入口区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98932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DDFF5"/>
                </a:solidFill>
                <a:latin typeface="Microsoft YaHei"/>
              </a:defRPr>
            </a:pPr>
            <a:r>
              <a:t>一键跳转：销售进度 · 库存监控 · 店员提成等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11680" y="1645920"/>
            <a:ext cx="2194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1691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428A0"/>
                </a:solidFill>
                <a:latin typeface="Microsoft YaHei"/>
              </a:defRPr>
            </a:pPr>
            <a:r>
              <a:t>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门店数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645920"/>
            <a:ext cx="2194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691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ECC71"/>
                </a:solidFill>
                <a:latin typeface="Microsoft YaHei"/>
              </a:defRPr>
            </a:pPr>
            <a:r>
              <a:t>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¥XXX万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月销售额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1645920"/>
            <a:ext cx="2194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691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29C38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XX%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月完成率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1645920"/>
            <a:ext cx="21945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16916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18BF2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2011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33333"/>
                </a:solidFill>
                <a:latin typeface="Microsoft YaHei"/>
              </a:defRPr>
            </a:pPr>
            <a:r>
              <a:t>XXX台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库存总量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 💰 销售进度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月度报表 | 对比分析 | 门店排名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📊 月度报表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各门店手机销售额/台量</a:t>
            </a:r>
            <a:br/>
            <a:r>
              <a:t>• NCME销售额</a:t>
            </a:r>
            <a:br/>
            <a:r>
              <a:t>• 配件销售额</a:t>
            </a:r>
            <a:br/>
            <a:r>
              <a:t>• 月度完成率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371600"/>
            <a:ext cx="347472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9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📈 对比分析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187452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环比（vs上月）</a:t>
            </a:r>
            <a:br/>
            <a:r>
              <a:t>• 同比（vs去年同月）</a:t>
            </a:r>
            <a:br/>
            <a:r>
              <a:t>• Chart.js柱状图</a:t>
            </a:r>
            <a:br/>
            <a:r>
              <a:t>• 销售趋势可视化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37160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8" y="1371600"/>
            <a:ext cx="3474720" cy="41148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8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🏆 门店排名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8" y="187452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按完成率排名</a:t>
            </a:r>
            <a:br/>
            <a:r>
              <a:t>• 按台量排名</a:t>
            </a:r>
            <a:br/>
            <a:r>
              <a:t>• 🥇🥈🥉 奖牌展示</a:t>
            </a:r>
            <a:br/>
            <a:r>
              <a:t>• 支持导出数据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📐 关键指标说明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4069080"/>
          <a:ext cx="10515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手机销售额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S26/Fold7/Flip7/W26 等机型销售额合计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台量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销售手机总台数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NCME 销售额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NCME 类产品销售额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配件销售额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手机壳/贴膜/耳机/充电器等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完成率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销售额 ÷ 月度目标 × 100%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731520" y="5760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⚡ 操作流程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6172200"/>
            <a:ext cx="2011680" cy="4572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6199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选择月份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6336792"/>
            <a:ext cx="54864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31920" y="6172200"/>
            <a:ext cx="2011680" cy="4572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6199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切换门店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6336792"/>
            <a:ext cx="54864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6172200"/>
            <a:ext cx="2011680" cy="4572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6199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查看报表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6336792"/>
            <a:ext cx="54864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60" y="6172200"/>
            <a:ext cx="2011680" cy="4572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619963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导出数据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05 📦 库存监控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库存展示 | 预警机制 | 补货建议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7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57400" y="160020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🟢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🟢 正常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可销 ≥ 7天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建议：维持现状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46304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15000" y="160020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🟡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🟡 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可销 &lt; 7天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  <a:latin typeface="Microsoft YaHei"/>
              </a:defRPr>
            </a:pPr>
            <a:r>
              <a:t>建议：关注并准备补货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463040"/>
            <a:ext cx="32004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72600" y="16002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🔴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🔴 紧急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560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可销 &lt; 3天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Microsoft YaHei"/>
              </a:defRPr>
            </a:pPr>
            <a:r>
              <a:t>建议：立即下单补货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📋 库存管理功能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31520" y="3703320"/>
          <a:ext cx="105156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2296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功能模块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库存列表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查看各门店/各机型当前库存数量和状态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库存预警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可销天数不足时自动标红/标黄提醒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补货建议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智能分析销售速度，给出补货优先级建议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门店筛选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按门店筛选查看库存分布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机型筛选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按S26/Fold7/Flip7等机型系列筛选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数据同步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支持从亿博士（eBoss）系统自动同步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06 💲 价格看板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指导价与成交价对比分析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8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1148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📊 价格看板功能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展示各机型官方指导价与实际成交价对比</a:t>
            </a:r>
            <a:br/>
            <a:r>
              <a:t>• 价差列：红色负值 / 绿色正值</a:t>
            </a:r>
            <a:br/>
            <a:r>
              <a:t>• 帮助店长掌握价格政策执行情况</a:t>
            </a:r>
            <a:br/>
            <a:r>
              <a:t>• 及时发现异常定价行为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5029200" cy="41148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📐 数据列说明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20"/>
            <a:ext cx="47548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机型：S26 / Fold7 / Flip7 / W26 等</a:t>
            </a:r>
            <a:br/>
            <a:r>
              <a:t>• 官方指导价：三星官方建议零售价</a:t>
            </a:r>
            <a:br/>
            <a:r>
              <a:t>• 实际成交均价：门店实际销售均价</a:t>
            </a:r>
            <a:br/>
            <a:r>
              <a:t>• 价差：实际价 − 指导价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📋 数据示例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31520" y="3794760"/>
          <a:ext cx="10515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173736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机型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官方指导价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实际成交均价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价差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Galaxy S26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¥6,999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¥6,800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-¥199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🟢 正常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Galaxy Fold7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¥12,999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¥12,500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-¥499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🟢 正常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Galaxy Flip7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¥8,999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¥8,600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-¥399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🟢 正常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Galaxy W26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¥10,999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¥10,200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-¥799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🟡 关注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Galaxy A56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¥3,299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¥3,100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-¥199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🟢 正常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07 💵 店员提成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提成计算 | 排行 | 规则 | 活动政策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9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303520" cy="6858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447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👥 店员列表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190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FF5"/>
                </a:solidFill>
                <a:latin typeface="Microsoft YaHei"/>
              </a:defRPr>
            </a:pPr>
            <a:r>
              <a:t>按门店查看店员底薪/销量/提成/收入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03520" cy="6858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447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📊 提成概览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190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FF5"/>
                </a:solidFill>
                <a:latin typeface="Microsoft YaHei"/>
              </a:defRPr>
            </a:pPr>
            <a:r>
              <a:t>Chart.js环形图展示提成分布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5303520" cy="6858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591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🏆 销售排行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633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FF5"/>
                </a:solidFill>
                <a:latin typeface="Microsoft YaHei"/>
              </a:defRPr>
            </a:pPr>
            <a:r>
              <a:t>🥇🥈🥉 销冠榜单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286000"/>
            <a:ext cx="5303520" cy="6858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591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📋 提成规则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334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FF5"/>
                </a:solidFill>
                <a:latin typeface="Microsoft YaHei"/>
              </a:defRPr>
            </a:pPr>
            <a:r>
              <a:t>各品类提成标准定价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200400"/>
            <a:ext cx="5303520" cy="6858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2735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📢 活动政策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47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DDFF5"/>
                </a:solidFill>
                <a:latin typeface="Microsoft YaHei"/>
              </a:defRPr>
            </a:pPr>
            <a:r>
              <a:t>当前活动政策和培训通知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🧮 提成计算公式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074920"/>
            <a:ext cx="10515600" cy="914400"/>
          </a:xfrm>
          <a:prstGeom prst="rect">
            <a:avLst/>
          </a:prstGeom>
          <a:solidFill>
            <a:srgbClr val="EEF1FA"/>
          </a:solidFill>
          <a:ln w="12700">
            <a:solidFill>
              <a:srgbClr val="3F6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16636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28A0"/>
                </a:solidFill>
                <a:latin typeface="Microsoft YaHei"/>
              </a:defRPr>
            </a:pPr>
            <a:r>
              <a:t>预计收入  =  底薪  +  手机销量×手机提成单价  +  NCME销售额×NCME提成比例</a:t>
            </a:r>
            <a:br/>
            <a:r>
              <a:t>                    +  配件销售额×配件提成比例  +  回收提成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08 👥 会员管理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会员信息管理 · 搜索筛选 · 新增会员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10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👥 会员列表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查看会员信息</a:t>
            </a:r>
            <a:br/>
            <a:r>
              <a:t>姓名/手机号/等级</a:t>
            </a:r>
            <a:br/>
            <a:r>
              <a:t>累计消费/注册门店</a:t>
            </a:r>
            <a:br/>
            <a:r>
              <a:t>支持搜索筛选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371600"/>
            <a:ext cx="3474720" cy="41148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9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🔍 搜索筛选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9" y="187452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按姓名搜索</a:t>
            </a:r>
            <a:br/>
            <a:r>
              <a:t>按手机号搜索</a:t>
            </a:r>
            <a:br/>
            <a:r>
              <a:t>按门店筛选</a:t>
            </a:r>
            <a:br/>
            <a:r>
              <a:t>实时过滤结果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598" y="137160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598" y="1371600"/>
            <a:ext cx="347472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58" y="1417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➕ 新增会员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58" y="1874520"/>
            <a:ext cx="3200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手动录入新会员</a:t>
            </a:r>
            <a:br/>
            <a:r>
              <a:t>填写基本信息</a:t>
            </a:r>
            <a:br/>
            <a:r>
              <a:t>选择门店归属</a:t>
            </a:r>
            <a:br/>
            <a:r>
              <a:t>即时生效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⭐ 会员等级体系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4160520"/>
            <a:ext cx="2194560" cy="914400"/>
          </a:xfrm>
          <a:prstGeom prst="rect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🥉 普通会员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FF"/>
                </a:solidFill>
                <a:latin typeface="Microsoft YaHei"/>
              </a:defRPr>
            </a:pPr>
            <a:r>
              <a:t>注册即有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4160520"/>
            <a:ext cx="2194560" cy="9144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🥈 银卡会员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FF"/>
                </a:solidFill>
                <a:latin typeface="Microsoft YaHei"/>
              </a:defRPr>
            </a:pPr>
            <a:r>
              <a:t>累计消费 ≥ ¥5,000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160520"/>
            <a:ext cx="2194560" cy="9144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🥇 金卡会员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FF"/>
                </a:solidFill>
                <a:latin typeface="Microsoft YaHei"/>
              </a:defRPr>
            </a:pPr>
            <a:r>
              <a:t>累计消费 ≥ ¥20,000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52560" y="4160520"/>
            <a:ext cx="2194560" cy="9144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4206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💎 钻石会员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526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EEEFF"/>
                </a:solidFill>
                <a:latin typeface="Microsoft YaHei"/>
              </a:defRPr>
            </a:pPr>
            <a:r>
              <a:t>累计消费 ≥ ¥50,000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94960"/>
            <a:ext cx="1051560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545896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7E22"/>
                </a:solidFill>
                <a:latin typeface="Microsoft YaHei"/>
              </a:defRPr>
            </a:pPr>
            <a:r>
              <a:t>🔒 权限说明：仅管理员和店长角色可访问会员管理模块。管理员可跨店查看，店长仅看本店会员。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09 📚 店长百事通 &amp; 💬 交流社区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知识库 + 团队协作双引擎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11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1148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📚 店长百事通 - 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分类浏览：产品知识/销售技巧/政策法规/培训资料</a:t>
            </a:r>
            <a:br/>
            <a:r>
              <a:t>• 全文搜索：输入关键词搜索所有文章内容</a:t>
            </a:r>
            <a:br/>
            <a:r>
              <a:t>• 文章详情：查看全文 + 自动生成摘要</a:t>
            </a:r>
            <a:br/>
            <a:r>
              <a:t>• 使用场景：查参数/学话术/看政策/查培训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37160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5029200" cy="41148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173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💬 交流社区 - 团队协作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74520"/>
            <a:ext cx="47548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发帖：发布话题（文字+图片）+选择分类</a:t>
            </a:r>
            <a:br/>
            <a:r>
              <a:t>• 回复：在帖子下评论交流互动</a:t>
            </a:r>
            <a:br/>
            <a:r>
              <a:t>• 分类：经验分享/问题求助/公告通知</a:t>
            </a:r>
            <a:br/>
            <a:r>
              <a:t>• 典型场景：分享经验、求助问题、发布通知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🏷️ 知识库分类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4343400"/>
            <a:ext cx="914400" cy="27432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产品知识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4343400"/>
            <a:ext cx="914400" cy="274320"/>
          </a:xfrm>
          <a:prstGeom prst="rect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销售技巧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4343400"/>
            <a:ext cx="914400" cy="27432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政策法规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343400"/>
            <a:ext cx="914400" cy="274320"/>
          </a:xfrm>
          <a:prstGeom prst="rect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培训资料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4343400"/>
            <a:ext cx="914400" cy="27432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竞品分析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4343400"/>
            <a:ext cx="914400" cy="274320"/>
          </a:xfrm>
          <a:prstGeom prst="rect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常见问题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💡 典型使用场景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🔍 查参数  →  S26摄像头像素？续航多久？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257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💬 学话术  →  如何介绍Fold7折叠屏优势？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257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📋 看政策  →  最新以旧换新政策是什么？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📖 查培训  →  新品培训PPT在哪里？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15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📢 分享经验  →  "今天W26卖了8台，分享下心得"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715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❓ 求助问题  →  "Flip7外屏有客户反馈花屏？"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 🤖 AI 智能助手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DeepSeek 驱动的智能业务分析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12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73152" cy="96012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📊 销售查询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74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"…万象城店本月卖了多少台S26？…"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7160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371600"/>
            <a:ext cx="73152" cy="96012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444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📦 库存查询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874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"…哪个门店W26库存最少？需要补货吗？…"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56032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560320"/>
            <a:ext cx="73152" cy="960120"/>
          </a:xfrm>
          <a:prstGeom prst="rect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633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📚 知识检索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"…以旧换新政策是什么？…"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256032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560320"/>
            <a:ext cx="73152" cy="96012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6334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📈 数据分析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"…对比万象城和万象汇的本月完成率？…"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74904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749040"/>
            <a:ext cx="73152" cy="9601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822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💵 提成查询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"…本月店员提成最高的是谁？…"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749040"/>
            <a:ext cx="5303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3749040"/>
            <a:ext cx="73152" cy="9601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8221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📝 综合建议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Microsoft YaHei"/>
              </a:defRPr>
            </a:pPr>
            <a:r>
              <a:t>"…帮我分析哪些门店需要重点关注？…"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⚡ AI 助手使用流程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5623560"/>
            <a:ext cx="2011680" cy="73152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输入问题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5943600"/>
            <a:ext cx="54864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31920" y="5623560"/>
            <a:ext cx="2011680" cy="73152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流式</a:t>
            </a:r>
            <a:br/>
            <a:r>
              <a:t>逐字输出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5943600"/>
            <a:ext cx="54864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5623560"/>
            <a:ext cx="2011680" cy="73152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自动调用</a:t>
            </a:r>
            <a:br/>
            <a:r>
              <a:t>后端工具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5943600"/>
            <a:ext cx="54864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60" y="5623560"/>
            <a:ext cx="2011680" cy="73152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返回分析</a:t>
            </a:r>
            <a:br/>
            <a:r>
              <a:t>结果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11 📅 考勤打卡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上班打卡 | 下班打卡 | 月度汇总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13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1371600"/>
            <a:ext cx="4846320" cy="10972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🕐 实时时钟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28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2026年6月8日  星期一   15:11:05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834640"/>
            <a:ext cx="32004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✅  上班打卡</a:t>
            </a:r>
            <a:br/>
            <a:r>
              <a:t>09:00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834640"/>
            <a:ext cx="320040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🔚  下班打卡</a:t>
            </a:r>
            <a:br/>
            <a:r>
              <a:t>18:00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📊 月度考勤汇总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31520" y="4343400"/>
          <a:ext cx="64008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统计项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出勤天数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当月正常出勤总天数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迟到次数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超过上班时间打卡的次数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早退次数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早于下班时间打卡的次数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缺卡次数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未打卡的工作日天数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加班时长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超出正常工作时长的累计时间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12 📝 审批管理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在线提交和处理各类申请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14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716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371600"/>
            <a:ext cx="2377440" cy="457200"/>
          </a:xfrm>
          <a:prstGeom prst="rect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🏖️ 请假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事假/病假/年假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13716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1371600"/>
            <a:ext cx="237744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💰 报销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差旅/招待/办公用品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23774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🔄 调拨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门店间库存调拨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37160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371600"/>
            <a:ext cx="2377440" cy="45720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📋 其他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20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自定义审批事项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⚡ 审批流程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246120"/>
            <a:ext cx="1828800" cy="77724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新建申请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3593592"/>
            <a:ext cx="45720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34640" y="3246120"/>
            <a:ext cx="1828800" cy="77724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选择类型</a:t>
            </a:r>
            <a:br/>
            <a:r>
              <a:t>填写内容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63440" y="3593592"/>
            <a:ext cx="45720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20640" y="3246120"/>
            <a:ext cx="1828800" cy="77724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选择审批人</a:t>
            </a:r>
            <a:br/>
            <a:r>
              <a:t>默认上级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593592"/>
            <a:ext cx="45720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06640" y="3246120"/>
            <a:ext cx="1828800" cy="77724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提交等待</a:t>
            </a:r>
            <a:br/>
            <a:r>
              <a:t>审批处理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3593592"/>
            <a:ext cx="457200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92640" y="3246120"/>
            <a:ext cx="1828800" cy="77724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通过/驳回</a:t>
            </a:r>
            <a:br/>
            <a:r>
              <a:t>通知申请人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💡 操作提示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4754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提交申请：点击「新建申请」选择类型 → 填写标题和详情 → 选择审批人 → 提交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74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审批处理：切换到「待审批」Tab → 查看申请详情 → 点击「通过」或「驳回」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394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• 状态追踪：可在「我的申请」中查看所有已提交的审批进度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13 ✅ 任务管理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团队任务分配与状态追踪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15 /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🔄 任务状态流转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920240"/>
            <a:ext cx="2286000" cy="914400"/>
          </a:xfrm>
          <a:prstGeom prst="rect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待处理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331720"/>
            <a:ext cx="914400" cy="508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1920240"/>
            <a:ext cx="2286000" cy="9144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进行中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2331720"/>
            <a:ext cx="914400" cy="508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1920240"/>
            <a:ext cx="2286000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已完成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🔴🟡🟢 任务优先级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520440"/>
            <a:ext cx="3017520" cy="7772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🔴 紧急  |  需24小时内处理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520440"/>
            <a:ext cx="3017520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🟡 重要  |  本周内完成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520440"/>
            <a:ext cx="3017520" cy="7772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🟢 普通  |  按计划推进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⚡ 操作流程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1. 点击「新建任务」创建任务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2. 填写标题、描述、指派人、优先级、截止日期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15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3. 被指派人可在任务列表看到新任务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080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4. 执行中点击「开始处理」，完成后点击「标记完成」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14 ⚙️ 后台管理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管理员专属 · 系统配置中心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16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2011680" cy="50292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👤 用户管理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创建/禁用/删除</a:t>
            </a:r>
            <a:br/>
            <a:r>
              <a:t>用户账号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4630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88920" y="1463040"/>
            <a:ext cx="2011680" cy="502920"/>
          </a:xfrm>
          <a:prstGeom prst="rect">
            <a:avLst/>
          </a:prstGeom>
          <a:solidFill>
            <a:srgbClr val="3F6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🏪 门店管理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488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添加/编辑</a:t>
            </a:r>
            <a:br/>
            <a:r>
              <a:t>门店信息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14630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20640" y="1463040"/>
            <a:ext cx="201168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🔄 数据同步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1488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从亿博士(eBoss)</a:t>
            </a:r>
            <a:br/>
            <a:r>
              <a:t>同步销售库存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52360" y="14630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52360" y="1463040"/>
            <a:ext cx="2011680" cy="50292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⚙️ 系统配置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1488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修改提成规则</a:t>
            </a:r>
            <a:br/>
            <a:r>
              <a:t>预警阈值参数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463040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84080" y="1463040"/>
            <a:ext cx="2011680" cy="502920"/>
          </a:xfrm>
          <a:prstGeom prst="rect">
            <a:avLst/>
          </a:prstGeom>
          <a:solidFill>
            <a:srgbClr val="618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1508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💾 数据库备份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148840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33333"/>
                </a:solidFill>
                <a:latin typeface="Microsoft YaHei"/>
              </a:defRPr>
            </a:pPr>
            <a:r>
              <a:t>手动/自动</a:t>
            </a:r>
            <a:br/>
            <a:r>
              <a:t>备份数据库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114800"/>
            <a:ext cx="10515600" cy="5029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178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Microsoft YaHei"/>
              </a:defRPr>
            </a:pPr>
            <a:r>
              <a:t>🔒 后台管理仅限管理员角色访问。系统启动时预置 admin/assistant 两个管理员账号。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46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🔄 数据同步机制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57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数据来源：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257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亿博士 (eBoss) 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605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同步内容：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56052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零售单数据 + 库存汇总数据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9527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同步频率：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95274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默认每小时自动同步一次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63002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Microsoft YaHei"/>
              </a:defRPr>
            </a:pPr>
            <a:r>
              <a:t>手动触发：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63002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管理员在后台 → 数据同步 → 手动触发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15 常见问题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常见问题与解决方案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17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303520" cy="4114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Q1：登录失败怎么办？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检查账号密码是否正确（区分大小写）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756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确认服务是否正常运行（浏览器访问 http://localhost:9527）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682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如忘记密码，联系管理员重置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Q2：页面显示异常/排版错乱？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最快解决方式：按 Ctrl + Shift + R（硬刷新）跳过浏览器缓存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756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如果仍有问题，清除浏览器缓存后重试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886200"/>
            <a:ext cx="5303520" cy="4114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Q3：数据不更新？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29768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销售和库存数据来源于亿博士（eBoss）系统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817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管理员可在后台管理 → 数据同步 → 手动触发同步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743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同步频率默认每小时一次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886200"/>
            <a:ext cx="5303520" cy="4114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Q4：AI 助手不回答？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9768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3891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确认 AI API 密钥已配置（管理员操作）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6817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刷新页面后重试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743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如果回答中包含技术标记（&lt;| DSML |），硬刷新页面即可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15 常见问题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常见问题与解决方案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18 /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5303520" cy="4114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Q5：如何在手机上使用？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手机浏览器访问 http://&lt;电脑IP&gt;:9527（需同一网络）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756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浏览器菜单 → "添加到主屏幕" → 安装为 PWA 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682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安装后可在桌面像 App 一样打开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303520" cy="4114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325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Q6：服务突然不可用？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91640"/>
            <a:ext cx="53035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重新启动：cd D:\Workbuudy\samsung-ops  →  python main.py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7568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检查Python进程是否意外关闭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682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确认 9527 端口未被占用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609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检查 data/samsung_ops.db 文件是否存在且完好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86200"/>
            <a:ext cx="5303520" cy="41148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Q7：如何修改密码？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97680"/>
            <a:ext cx="53035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登录后点击右上角头像区域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817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选择"修改密码"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743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333333"/>
                </a:solidFill>
                <a:latin typeface="Microsoft YaHei"/>
              </a:defRPr>
            </a:pPr>
            <a:r>
              <a:t>• 输入旧密码和新密码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📋 版本记录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EE"/>
                </a:solidFill>
                <a:latin typeface="Microsoft YaHei"/>
              </a:defRPr>
            </a:pPr>
            <a:r>
              <a:t>系统迭代历程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20 /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45920"/>
          <a:ext cx="1051560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73152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版本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日期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更新内容</a:t>
                      </a:r>
                    </a:p>
                  </a:txBody>
                  <a:tcPr>
                    <a:solidFill>
                      <a:srgbClr val="1428A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v1.0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2026-05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初始版本：数据总览/销售/库存/价格/知识库/社区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2026-06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新增：店员提成/会员管理/AI助手/考勤/审批/任务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v2.1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2026-06-08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优化：移动端适配/PWA v3/DSML过滤/排版统一/使用手册</a:t>
                      </a:r>
                    </a:p>
                  </a:txBody>
                  <a:tcPr>
                    <a:solidFill>
                      <a:srgbClr val="F8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Microsoft YaHei"/>
              </a:defRPr>
            </a:pPr>
            <a:r>
              <a:t>✨ 系统技术亮点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57600"/>
            <a:ext cx="3200400" cy="1005840"/>
          </a:xfrm>
          <a:prstGeom prst="rect">
            <a:avLst/>
          </a:prstGeom>
          <a:solidFill>
            <a:srgbClr val="F8F9FC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Microsoft YaHei"/>
              </a:defRPr>
            </a:pPr>
            <a:r>
              <a:t>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PWA 渐进式Web应用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支持离线访问和桌面安装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657600"/>
            <a:ext cx="3200400" cy="1005840"/>
          </a:xfrm>
          <a:prstGeom prst="rect">
            <a:avLst/>
          </a:prstGeom>
          <a:solidFill>
            <a:srgbClr val="F8F9FC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DeepSeek AI 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自然语言查询业务数据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657600"/>
            <a:ext cx="3200400" cy="1005840"/>
          </a:xfrm>
          <a:prstGeom prst="rect">
            <a:avLst/>
          </a:prstGeom>
          <a:solidFill>
            <a:srgbClr val="F8F9FC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730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749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Chart.js 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4069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丰富的图表和数据分析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937760"/>
            <a:ext cx="3200400" cy="1005840"/>
          </a:xfrm>
          <a:prstGeom prst="rect">
            <a:avLst/>
          </a:prstGeom>
          <a:solidFill>
            <a:srgbClr val="F8F9FC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10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Microsoft YaHei"/>
              </a:defRPr>
            </a:pPr>
            <a:r>
              <a:t>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响应式设计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PC/平板/手机全端适配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4937760"/>
            <a:ext cx="3200400" cy="1005840"/>
          </a:xfrm>
          <a:prstGeom prst="rect">
            <a:avLst/>
          </a:prstGeom>
          <a:solidFill>
            <a:srgbClr val="F8F9FC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5010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Microsoft YaHei"/>
              </a:defRPr>
            </a:pPr>
            <a:r>
              <a:t>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角色权限控制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管理员/店长/店员三级权限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4937760"/>
            <a:ext cx="3200400" cy="1005840"/>
          </a:xfrm>
          <a:prstGeom prst="rect">
            <a:avLst/>
          </a:prstGeom>
          <a:solidFill>
            <a:srgbClr val="F8F9FC"/>
          </a:solidFill>
          <a:ln w="12700">
            <a:solidFill>
              <a:srgbClr val="DC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50109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A1A1A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5029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亿博士数据同步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53492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自动采集零售单和库存数据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A3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1371600"/>
            <a:ext cx="3657600" cy="3657600"/>
          </a:xfrm>
          <a:prstGeom prst="ellipse">
            <a:avLst/>
          </a:prstGeom>
          <a:solidFill>
            <a:srgbClr val="1A3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29C38"/>
                </a:solidFill>
                <a:latin typeface="Microsoft YaHei"/>
              </a:defRPr>
            </a:pPr>
            <a:r>
              <a:t>三星事业部运营管理平台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3474720"/>
            <a:ext cx="2103120" cy="50800"/>
          </a:xfrm>
          <a:prstGeom prst="rect">
            <a:avLst/>
          </a:prstGeom>
          <a:solidFill>
            <a:srgbClr val="F29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CCEE"/>
                </a:solidFill>
                <a:latin typeface="Microsoft YaHei"/>
              </a:defRPr>
            </a:pPr>
            <a:r>
              <a:t>如有疑问，请联系管理员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AACC"/>
                </a:solidFill>
                <a:latin typeface="Microsoft YaHei"/>
              </a:defRPr>
            </a:pPr>
            <a:r>
              <a:t>简禹豪 | http://localhost:9527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